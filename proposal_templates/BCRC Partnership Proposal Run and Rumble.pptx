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812030" cy="6858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  <p:txBody>
          <a:bodyPr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SPONSORSHIP PROPOSAL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1752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BEKS CITY RUN CLUB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947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partnership with ARCHERS LIVE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05840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1772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brand in front of Abeokuta's most engaged running community, and turn every run into reach, product trial and loyalty.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DOMINO’S PIZZA  |   6th October 2026</a:t>
            </a:r>
            <a:endParaRPr lang="en-US" sz="1100" dirty="0"/>
          </a:p>
        </p:txBody>
      </p:sp>
      <p:pic>
        <p:nvPicPr>
          <p:cNvPr id="26" name="Picture 25" descr="EE66EE5B-E0AD-4494-97FE-E50ECD45C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318135"/>
            <a:ext cx="1307465" cy="125095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20" y="491490"/>
            <a:ext cx="1911350" cy="955675"/>
          </a:xfrm>
          <a:prstGeom prst="rect">
            <a:avLst/>
          </a:prstGeom>
        </p:spPr>
      </p:pic>
      <p:pic>
        <p:nvPicPr>
          <p:cNvPr id="8" name="Picture 7" descr="dominos-pizza-seek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310" y="324485"/>
            <a:ext cx="1206500" cy="1250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FROM THE FOUNDERS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Dear Partner,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EAF6EE"/>
          </a:solidFill>
        </p:spPr>
      </p:sp>
      <p:sp>
        <p:nvSpPr>
          <p:cNvPr id="5" name="Text 3"/>
          <p:cNvSpPr txBox="1"/>
          <p:nvPr/>
        </p:nvSpPr>
        <p:spPr>
          <a:xfrm>
            <a:off x="8001000" y="594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9601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2161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DOMINO’S PIZZA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1737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19933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MANAGER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5146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7706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6th October 2026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3429000"/>
            <a:ext cx="3520440" cy="306324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  <p:txBody>
          <a:bodyPr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1600200"/>
            <a:ext cx="672084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behalf of BEKS CITY RUN CLUB, thank you for considering a partnership built around one thing: results for your brand. We put you in front of one of Abeokuta's most active, engaged, and fastest-growing audiences, in a setting where people are open to discovering new brands.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May 2026, BEKS CITY RUN CLUB has grown into a community of 600+ members, with 250+ runners showing up every week. They are health-conscious runners, professionals and entrepreneurs, and they back the brands that show up for them.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produced to a professional, world-class standard in partnership with </a:t>
            </a: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ARCHERS LIVE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our official production partner and event organizer, so your brand is always presented in a polished, well-run environment.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Brand Gains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two-way partnership, not a donation. Every tier is built around measurable brand exposure, direct sampling and reusable content, in a community that is hard to reach through traditional advertising.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59152"/>
            <a:ext cx="384048" cy="384048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6" name="Text 4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134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Repeated, weekly exposure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5176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runners show up every week, so your brand is seen again and again, not just once at a flagship event. Frequency builds recall.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99816"/>
            <a:ext cx="1088136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1" name="Text 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54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beyond the run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9300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with creators who have large audiences, so every partnership travels beyond our community. Our content has earned 2.5M+ views.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88136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6" name="Text 14"/>
          <p:cNvSpPr txBox="1"/>
          <p:nvPr/>
        </p:nvSpPr>
        <p:spPr>
          <a:xfrm>
            <a:off x="640080" y="40416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959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high-intent audience, face to face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34256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Runners, professionals and entrepreneurs across three districts (Mile, Funaab and Pharmafit): a health-conscious consumer base you can meet and sample to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82312"/>
            <a:ext cx="1088136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82896"/>
            <a:ext cx="384048" cy="384048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21" name="Text 19"/>
          <p:cNvSpPr txBox="1"/>
          <p:nvPr/>
        </p:nvSpPr>
        <p:spPr>
          <a:xfrm>
            <a:off x="640080" y="4882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83717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you can reuse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175504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reels, features and event moments give you organic, shareable content that keeps working for your brand long after event day.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724144"/>
            <a:ext cx="384048" cy="384048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26" name="Text 24"/>
          <p:cNvSpPr txBox="1"/>
          <p:nvPr/>
        </p:nvSpPr>
        <p:spPr>
          <a:xfrm>
            <a:off x="640080" y="57241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6784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polished stage for your brand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601675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is delivered by Archers Live to a professional standard, so your brand is always presented in a well-run, well-attended setting.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Audience You Gain Access 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21945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" y="2377440"/>
            <a:ext cx="2514600" cy="102047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3397910"/>
            <a:ext cx="224028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65576" y="21945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2377440"/>
            <a:ext cx="2514600" cy="102047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3397910"/>
            <a:ext cx="224028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weekly runners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21945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2377440"/>
            <a:ext cx="2514600" cy="102047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2.5M+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3397910"/>
            <a:ext cx="224028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views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51976" y="21945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51976" y="2377440"/>
            <a:ext cx="2514600" cy="102047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750+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3397910"/>
            <a:ext cx="224028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at our largest event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people who chose to show up: actual footsteps, not impressions. That is the audience your brand meets.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49980" y="5120005"/>
            <a:ext cx="4729480" cy="145605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ON YOUR SPONSORSHIP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Brand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093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5097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6" name="Text 4"/>
          <p:cNvSpPr txBox="1"/>
          <p:nvPr/>
        </p:nvSpPr>
        <p:spPr>
          <a:xfrm>
            <a:off x="95097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Seen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 on flyers, banners and stands at events and weekly runs, plus brand shoutouts and social features, amplified by creators with large audiences.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470001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1" name="Text 9"/>
          <p:cNvSpPr txBox="1"/>
          <p:nvPr/>
        </p:nvSpPr>
        <p:spPr>
          <a:xfrm>
            <a:off x="470001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Tried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sampling puts your product in the hands of active, health-conscious people, with direct engagement with up to 300 attendees at a single event.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844905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6" name="Text 14"/>
          <p:cNvSpPr txBox="1"/>
          <p:nvPr/>
        </p:nvSpPr>
        <p:spPr>
          <a:xfrm>
            <a:off x="844905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Remembered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content, official partner recognition and CSR credentials build lasting goodwill long after the finish line.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Track Record You Can Build 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short time, we have proven we can pull a crowd. Turnout more than doubled from our debut to our second flagship event, so each activation puts your brand in front of a bigger audience.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3796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1260" y="2251710"/>
            <a:ext cx="3847465" cy="175069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28116" y="40233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 EVENT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" y="427024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Run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" y="4690872"/>
            <a:ext cx="4709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debut community event drew over 250 participants and put the club on Abeokuta's map.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" y="544068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77356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4350" y="2279650"/>
            <a:ext cx="3847465" cy="17506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51676" y="40233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EVENT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427024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&amp; Rhythm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51676" y="4690872"/>
            <a:ext cx="4709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second flagship event grew to 600+ runners and 50 volunteers, more than double our debut turnout.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51676" y="544068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 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· 50 volunteers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Mission, Vision &amp; 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093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5097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6" name="Text 4"/>
          <p:cNvSpPr txBox="1"/>
          <p:nvPr/>
        </p:nvSpPr>
        <p:spPr>
          <a:xfrm>
            <a:off x="95097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bring people together through group running  building and sharing a healthier lifestyle.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470001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1" name="Text 9"/>
          <p:cNvSpPr txBox="1"/>
          <p:nvPr/>
        </p:nvSpPr>
        <p:spPr>
          <a:xfrm>
            <a:off x="470001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grow into a lifestyle brand that goes beyond running: a movement connecting people, partners and purpose, powering healthier communities on and off the road.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8449056" y="228600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6" name="Text 14"/>
          <p:cNvSpPr txBox="1"/>
          <p:nvPr/>
        </p:nvSpPr>
        <p:spPr>
          <a:xfrm>
            <a:off x="8449056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971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4747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encourage people to become active in their fitness journey in the most lively and enjoyable way possible.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4332"/>
          </a:solidFill>
          <a:ln w="19050">
            <a:noFill/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53212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ACTIVATION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86868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&amp; Rumble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532120" y="169164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1B4332"/>
          </a:solidFill>
        </p:spPr>
      </p:sp>
      <p:sp>
        <p:nvSpPr>
          <p:cNvPr id="10" name="Text 8"/>
          <p:cNvSpPr txBox="1"/>
          <p:nvPr/>
        </p:nvSpPr>
        <p:spPr>
          <a:xfrm>
            <a:off x="5532120" y="1691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OCTOBER 2026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423160"/>
            <a:ext cx="60350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Rumble: The Playground Experience is our October flagship, with Archers Live and The Game Xperience. A 7KM community run from Moore Junction to MKO Abiola Stadium meets the childhood games everyone remembers, giving your brand a high-energy, nostalgic setting to connect with runners.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7947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brand can do on the day: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32120" y="4272407"/>
            <a:ext cx="128016" cy="12801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4" name="Text 12"/>
          <p:cNvSpPr txBox="1"/>
          <p:nvPr/>
        </p:nvSpPr>
        <p:spPr>
          <a:xfrm>
            <a:off x="5806440" y="41605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your product to an active, engaged crowd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4729607"/>
            <a:ext cx="128016" cy="12801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6" name="Text 14"/>
          <p:cNvSpPr txBox="1"/>
          <p:nvPr/>
        </p:nvSpPr>
        <p:spPr>
          <a:xfrm>
            <a:off x="5806440" y="46177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brand story live, in front of runners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5186807"/>
            <a:ext cx="128016" cy="12801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8" name="Text 16"/>
          <p:cNvSpPr txBox="1"/>
          <p:nvPr/>
        </p:nvSpPr>
        <p:spPr>
          <a:xfrm>
            <a:off x="5806440" y="50749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organic content at a highly shareable event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01" name="Panel Presenters"/>
          <p:cNvSpPr txBox="1"/>
          <p:nvPr/>
        </p:nvSpPr>
        <p:spPr>
          <a:xfrm>
            <a:off x="457200" y="13000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5D5B2"/>
                </a:solidFill>
                <a:latin typeface="Calibri"/>
                <a:ea typeface="Calibri"/>
                <a:cs typeface="Calibri"/>
              </a:rPr>
              <a:t>ARCHERS LIVE  ×  THE GAME XPERIENCE</a:t>
            </a:r>
            <a:endParaRPr lang="en-US" sz="1100" b="1" kern="0" spc="200" dirty="0">
              <a:solidFill>
                <a:srgbClr val="95D5B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Panel Title"/>
          <p:cNvSpPr txBox="1"/>
          <p:nvPr/>
        </p:nvSpPr>
        <p:spPr>
          <a:xfrm>
            <a:off x="457200" y="1900000"/>
            <a:ext cx="4206240" cy="21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kern="0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RUN &amp;</a:t>
            </a:r>
            <a:endParaRPr lang="en-US" sz="5400" b="1" kern="0" spc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marL="0" indent="0">
              <a:buNone/>
            </a:pPr>
            <a:r>
              <a:rPr lang="en-US" sz="5400" b="1" kern="0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RUMBLE</a:t>
            </a:r>
            <a:endParaRPr lang="en-US" sz="5400" b="1" kern="0" spc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3" name="Panel Subtitle"/>
          <p:cNvSpPr txBox="1"/>
          <p:nvPr/>
        </p:nvSpPr>
        <p:spPr>
          <a:xfrm>
            <a:off x="457200" y="4150000"/>
            <a:ext cx="4206240" cy="3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5D5B2"/>
                </a:solidFill>
                <a:latin typeface="Calibri"/>
                <a:ea typeface="Calibri"/>
                <a:cs typeface="Calibri"/>
              </a:rPr>
              <a:t>THE PLAYGROUND EXPERIENCE</a:t>
            </a:r>
            <a:endParaRPr lang="en-US" sz="1600" b="1" kern="0" spc="150" dirty="0">
              <a:solidFill>
                <a:srgbClr val="95D5B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Panel Route"/>
          <p:cNvSpPr txBox="1"/>
          <p:nvPr/>
        </p:nvSpPr>
        <p:spPr>
          <a:xfrm>
            <a:off x="457200" y="4700000"/>
            <a:ext cx="4206240" cy="6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7KM RUN  ·  MOORE JUNCTION TO MKO ABIOLA STADIUM</a:t>
            </a:r>
            <a:endParaRPr lang="en-US" sz="1200" b="1" kern="0" spc="5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Panel Games"/>
          <p:cNvSpPr txBox="1"/>
          <p:nvPr/>
        </p:nvSpPr>
        <p:spPr>
          <a:xfrm>
            <a:off x="457200" y="5450000"/>
            <a:ext cx="4206240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kern="0" spc="0" dirty="0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PS2  ·  Police &amp; Thief  ·  Suwe  ·  Table Tennis  ·  Rubber  ·  Ten Ten  ·  Idi Oremi  ·  Tinko  ·  Sack Race</a:t>
            </a:r>
            <a:endParaRPr lang="en-US" sz="1100" b="0" kern="0" spc="0" dirty="0">
              <a:solidFill>
                <a:srgbClr val="D8F3DC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RETURN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Tiers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of exposure that fits your goals and budget, from a no-cost, in-kind contribution to a full-quarter, co-branded partnership. All billing on paid tiers is capped at three months.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" y="2514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28346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636" y="3291840"/>
            <a:ext cx="64008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3703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In-Kind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43891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required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5576" y="2514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28346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EMERALD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02836" y="3291840"/>
            <a:ext cx="64008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736" y="3703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₦500,000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65576" y="43891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514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08776" y="28346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SAPPHIRE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46036" y="3291840"/>
            <a:ext cx="64008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5936" y="3703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₦1,500,000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43891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51976" y="2514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51976" y="28346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89236" y="3291840"/>
            <a:ext cx="640080" cy="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89136" y="370332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₦2,000,000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951976" y="43891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 · flagship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14916" y="52120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95D5B2"/>
          </a:solidFill>
        </p:spPr>
      </p:sp>
      <p:sp>
        <p:nvSpPr>
          <p:cNvPr id="26" name="Text 24"/>
          <p:cNvSpPr txBox="1"/>
          <p:nvPr/>
        </p:nvSpPr>
        <p:spPr>
          <a:xfrm>
            <a:off x="9614916" y="521208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which tier fits? Quartz is the easiest way to test the waters with an in-kind contribution. Emerald puts your brand in front of up to 300 attendees at a single event, while Sapphire and Diamond build quarter-long visibility, recall and relationships with our members.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Quartz — In-Kind Partnership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cash, real exposure. Sponsor an event with whatever you have to give (food, refreshments, cash or product) and bring your team to sample directly to our runners.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46304" cy="14630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in kind: food, refreshments, cash or products, whatever fits your brand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146304" cy="14630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8" name="Text 6"/>
          <p:cNvSpPr txBox="1"/>
          <p:nvPr/>
        </p:nvSpPr>
        <p:spPr>
          <a:xfrm>
            <a:off x="914400" y="3264408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products or team to the event for live sampling to attendees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77056"/>
            <a:ext cx="146304" cy="14630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0" name="Text 8"/>
          <p:cNvSpPr txBox="1"/>
          <p:nvPr/>
        </p:nvSpPr>
        <p:spPr>
          <a:xfrm>
            <a:off x="914400" y="3831336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logo on the event flyer, in front of our whole audience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43984"/>
            <a:ext cx="146304" cy="14630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2" name="Text 10"/>
          <p:cNvSpPr txBox="1"/>
          <p:nvPr/>
        </p:nvSpPr>
        <p:spPr>
          <a:xfrm>
            <a:off x="914400" y="4398264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shoutout and mention during the event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10912"/>
            <a:ext cx="146304" cy="14630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4" name="Text 12"/>
          <p:cNvSpPr txBox="1"/>
          <p:nvPr/>
        </p:nvSpPr>
        <p:spPr>
          <a:xfrm>
            <a:off x="914400" y="496519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cash commitment: the easiest way to get in front of our community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1573530"/>
            <a:ext cx="3931920" cy="459867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Emerald, Sapphire &amp; Diamond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630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16916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EMERALD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20574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₦500,000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2560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88036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way to see the return at a single event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" y="3337560"/>
            <a:ext cx="306324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3502152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1" name="Text 9"/>
          <p:cNvSpPr txBox="1"/>
          <p:nvPr/>
        </p:nvSpPr>
        <p:spPr>
          <a:xfrm>
            <a:off x="932688" y="345643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stand or booth at the event venue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" y="3992880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3" name="Text 11"/>
          <p:cNvSpPr txBox="1"/>
          <p:nvPr/>
        </p:nvSpPr>
        <p:spPr>
          <a:xfrm>
            <a:off x="932688" y="3947160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banner and signage displayed on-site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2376" y="4483608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5" name="Text 13"/>
          <p:cNvSpPr txBox="1"/>
          <p:nvPr/>
        </p:nvSpPr>
        <p:spPr>
          <a:xfrm>
            <a:off x="932688" y="4437888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sampling to attendees on event day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2376" y="4974336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7" name="Text 15"/>
          <p:cNvSpPr txBox="1"/>
          <p:nvPr/>
        </p:nvSpPr>
        <p:spPr>
          <a:xfrm>
            <a:off x="932688" y="4928616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placement on event flyers and press materials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2376" y="5465064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9" name="Text 17"/>
          <p:cNvSpPr txBox="1"/>
          <p:nvPr/>
        </p:nvSpPr>
        <p:spPr>
          <a:xfrm>
            <a:off x="932688" y="5419344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dedicated social media posts/stories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2376" y="5955792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21" name="Text 19"/>
          <p:cNvSpPr txBox="1"/>
          <p:nvPr/>
        </p:nvSpPr>
        <p:spPr>
          <a:xfrm>
            <a:off x="932688" y="591007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engagement with up to 300 attendees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88536" y="14630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8536" y="16916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SAPPHIRE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88536" y="20574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₦1,500,000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288536" y="2560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17136" y="288036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exposure across 2 of 3 running districts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62856" y="3337560"/>
            <a:ext cx="3063240" cy="0"/>
          </a:xfrm>
          <a:prstGeom prst="line">
            <a:avLst/>
          </a:prstGeom>
          <a:noFill/>
          <a:ln w="9525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7136" y="3502152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29" name="Text 27"/>
          <p:cNvSpPr txBox="1"/>
          <p:nvPr/>
        </p:nvSpPr>
        <p:spPr>
          <a:xfrm>
            <a:off x="4727448" y="345643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stand/banner at weekly runs, every week, all quarter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17136" y="3992880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31" name="Text 29"/>
          <p:cNvSpPr txBox="1"/>
          <p:nvPr/>
        </p:nvSpPr>
        <p:spPr>
          <a:xfrm>
            <a:off x="4727448" y="3947160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sampling at every weekly run in those districts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17136" y="4483608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33" name="Text 31"/>
          <p:cNvSpPr txBox="1"/>
          <p:nvPr/>
        </p:nvSpPr>
        <p:spPr>
          <a:xfrm>
            <a:off x="4727448" y="4437888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and sampling at 2 major community events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17136" y="4974336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35" name="Text 33"/>
          <p:cNvSpPr txBox="1"/>
          <p:nvPr/>
        </p:nvSpPr>
        <p:spPr>
          <a:xfrm>
            <a:off x="4727448" y="4928616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social media features, including one joint content piece (reel, interview, or feature)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17136" y="5465064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37" name="Text 35"/>
          <p:cNvSpPr txBox="1"/>
          <p:nvPr/>
        </p:nvSpPr>
        <p:spPr>
          <a:xfrm>
            <a:off x="4727448" y="5419344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as an official CSR partner in materials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17136" y="5955792"/>
            <a:ext cx="100584" cy="100584"/>
          </a:xfrm>
          <a:prstGeom prst="ellipse">
            <a:avLst/>
          </a:prstGeom>
          <a:solidFill>
            <a:srgbClr val="95D5B2"/>
          </a:solidFill>
        </p:spPr>
      </p:sp>
      <p:sp>
        <p:nvSpPr>
          <p:cNvPr id="39" name="Text 37"/>
          <p:cNvSpPr txBox="1"/>
          <p:nvPr/>
        </p:nvSpPr>
        <p:spPr>
          <a:xfrm>
            <a:off x="4727448" y="591007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engagement with 100+ members over the quarter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83296" y="14630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EAF6EE"/>
          </a:solidFill>
          <a:ln w="12700">
            <a:solidFill>
              <a:srgbClr val="CFE8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16916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83296" y="20574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₦2,000,000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8083296" y="2560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 · flagship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311896" y="288036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exposure across all three running districts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57616" y="3337560"/>
            <a:ext cx="3063240" cy="0"/>
          </a:xfrm>
          <a:prstGeom prst="line">
            <a:avLst/>
          </a:prstGeom>
          <a:noFill/>
          <a:ln w="9525">
            <a:solidFill>
              <a:srgbClr val="CFE8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11896" y="3502152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47" name="Text 45"/>
          <p:cNvSpPr txBox="1"/>
          <p:nvPr/>
        </p:nvSpPr>
        <p:spPr>
          <a:xfrm>
            <a:off x="8522208" y="345643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stand/banner at every weekly run, all quarter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11896" y="3992880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49" name="Text 47"/>
          <p:cNvSpPr txBox="1"/>
          <p:nvPr/>
        </p:nvSpPr>
        <p:spPr>
          <a:xfrm>
            <a:off x="8522208" y="3947160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sampling at every run and every community event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311896" y="4483608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51" name="Text 49"/>
          <p:cNvSpPr txBox="1"/>
          <p:nvPr/>
        </p:nvSpPr>
        <p:spPr>
          <a:xfrm>
            <a:off x="8522208" y="4437888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Weekly/bi-weekly social shoutouts and content collabs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311896" y="4974336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53" name="Text 51"/>
          <p:cNvSpPr txBox="1"/>
          <p:nvPr/>
        </p:nvSpPr>
        <p:spPr>
          <a:xfrm>
            <a:off x="8522208" y="4928616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co-branding on all club materials and vests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311896" y="5465064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55" name="Text 53"/>
          <p:cNvSpPr txBox="1"/>
          <p:nvPr/>
        </p:nvSpPr>
        <p:spPr>
          <a:xfrm>
            <a:off x="8522208" y="5419344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right of refusal on employee wellness programs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311896" y="5955792"/>
            <a:ext cx="100584" cy="100584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57" name="Text 55"/>
          <p:cNvSpPr txBox="1"/>
          <p:nvPr/>
        </p:nvSpPr>
        <p:spPr>
          <a:xfrm>
            <a:off x="8522208" y="5910072"/>
            <a:ext cx="2926080" cy="454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engagement with 200+ members all quarter, named and recognized at every community event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166360" y="1371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HEALTHIER ABEOKUTA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373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78892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tier fits your goals, what you gain is more than visibility: face-to-face engagement, content you can reuse, and the trust of an active, growing community that shows up for the brands that show up for it.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at Run &amp; Rumble on 31st October, or let's talk about the tier that fits your brand. We would welcome the chance to meet your team.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66360" y="4892040"/>
            <a:ext cx="6309360" cy="0"/>
          </a:xfrm>
          <a:prstGeom prst="line">
            <a:avLst/>
          </a:prstGeom>
          <a:noFill/>
          <a:ln w="95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5029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FAITHFULLY, FOR AND ON BEHALF OF BEKS CITY RUN CLUB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53492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Adebanjo Oluwatobiloba   ·   Tijani Pelumi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Oladipupo Abdul Azeez   ·   Shittu Ismail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Partnership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80136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/>
              <a:t>07069582118, 08168120117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39572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/>
              <a:t>Bekscityrunclub@gmail.com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9900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/>
              <a:t>Beks.cityrunclub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58444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Abeokuta, Ogun State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508760"/>
            <a:ext cx="3931920" cy="466344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6" name="Picture 25" descr="EE66EE5B-E0AD-4494-97FE-E50ECD45C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97680"/>
            <a:ext cx="1307465" cy="12509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10" y="4566285"/>
            <a:ext cx="2012315" cy="643255"/>
          </a:xfrm>
          <a:prstGeom prst="rect">
            <a:avLst/>
          </a:prstGeom>
        </p:spPr>
      </p:pic>
      <p:pic>
        <p:nvPicPr>
          <p:cNvPr id="17" name="Picture 16" descr="dominos-pizza-seek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520" y="4297680"/>
            <a:ext cx="1206500" cy="1250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7777</Words>
  <Application>WPS Presentation</Application>
  <PresentationFormat>On-screen Show (16:9)</PresentationFormat>
  <Paragraphs>356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Calibri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WPS_1785942826</cp:lastModifiedBy>
  <cp:revision>10</cp:revision>
  <dcterms:created xsi:type="dcterms:W3CDTF">2026-10-06T20:37:04Z</dcterms:created>
  <dcterms:modified xsi:type="dcterms:W3CDTF">2026-10-06T20:37:04Z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806C7E6F6ADBDC82F05BC56A9A517E66_43</vt:lpwstr>
  </property>
  <property fmtid="{D5CDD505-2E9C-101B-9397-08002B2CF9AE}" pid="3" name="KSOProductBuildVer">
    <vt:lpwstr>1033-12.1.28496.28496</vt:lpwstr>
  </property>
</Properties>
</file>